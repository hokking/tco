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71" r:id="rId13"/>
    <p:sldId id="272" r:id="rId14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none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8D230F3-CF80-4859-8CE7-A43EE81993B5}" styleName="밝은 스타일 1 - 강조 6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539"/>
    <p:restoredTop sz="93560"/>
  </p:normalViewPr>
  <p:slideViewPr>
    <p:cSldViewPr snapToGrid="0">
      <p:cViewPr>
        <p:scale>
          <a:sx n="89" d="100"/>
          <a:sy n="89" d="100"/>
        </p:scale>
        <p:origin x="-2424" y="-510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-3780" y="-108"/>
      </p:cViewPr>
      <p:guideLst>
        <p:guide orient="horz" pos="2903"/>
        <p:guide pos="218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/>
          <a:lstStyle>
            <a:lvl1pPr eaLnBrk="1" hangingPunct="1">
              <a:defRPr sz="1200">
                <a:ea typeface="굴림"/>
              </a:defRPr>
            </a:lvl1pPr>
          </a:lstStyle>
          <a:p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/>
          <a:lstStyle>
            <a:lvl1pPr algn="r" eaLnBrk="1" hangingPunct="1">
              <a:defRPr sz="1200">
                <a:ea typeface="굴림"/>
              </a:defRPr>
            </a:lvl1pPr>
          </a:lstStyle>
          <a:p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/>
          <a:lstStyle>
            <a:lvl1pPr eaLnBrk="1" hangingPunct="1">
              <a:defRPr sz="1200">
                <a:ea typeface="굴림"/>
              </a:defRPr>
            </a:lvl1pPr>
          </a:lstStyle>
          <a:p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/>
          <a:lstStyle>
            <a:lvl1pPr algn="r" eaLnBrk="1" hangingPunct="1">
              <a:defRPr sz="1200">
                <a:ea typeface="굴림"/>
              </a:defRPr>
            </a:lvl1pPr>
          </a:lstStyle>
          <a:p>
            <a:fld id="{176FFADF-79CB-4D72-852F-AAC670A3D037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309" tIns="46154" rIns="92309" bIns="46154" anchor="t" anchorCtr="0"/>
          <a:lstStyle>
            <a:lvl1pPr defTabSz="922338" eaLnBrk="1" hangingPunct="1">
              <a:defRPr sz="1200">
                <a:ea typeface="굴림"/>
              </a:defRPr>
            </a:lvl1pPr>
          </a:lstStyle>
          <a:p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309" tIns="46154" rIns="92309" bIns="46154" anchor="t" anchorCtr="0"/>
          <a:lstStyle>
            <a:lvl1pPr algn="r" defTabSz="922338" eaLnBrk="1" hangingPunct="1">
              <a:defRPr sz="1200">
                <a:ea typeface="굴림"/>
              </a:defRPr>
            </a:lvl1pPr>
          </a:lstStyle>
          <a:p>
            <a:endParaRPr lang="en-US" altLang="ko-K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309" tIns="46154" rIns="92309" bIns="46154" anchor="t" anchorCtr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309" tIns="46154" rIns="92309" bIns="46154" anchor="b" anchorCtr="0"/>
          <a:lstStyle>
            <a:lvl1pPr defTabSz="922338" eaLnBrk="1" hangingPunct="1">
              <a:defRPr sz="1200">
                <a:ea typeface="굴림"/>
              </a:defRPr>
            </a:lvl1pPr>
          </a:lstStyle>
          <a:p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309" tIns="46154" rIns="92309" bIns="46154" anchor="b" anchorCtr="0"/>
          <a:lstStyle>
            <a:lvl1pPr algn="r" defTabSz="922338" eaLnBrk="1" hangingPunct="1">
              <a:defRPr sz="1200">
                <a:ea typeface="굴림"/>
              </a:defRPr>
            </a:lvl1pPr>
          </a:lstStyle>
          <a:p>
            <a:fld id="{949F3908-8432-46C2-9A97-2AAB410800A8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2050" y="692150"/>
            <a:ext cx="4610100" cy="3457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F3908-8432-46C2-9A97-2AAB410800A8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jquery-logo-blu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750130"/>
          </a:xfrm>
          <a:prstGeom prst="rect">
            <a:avLst/>
          </a:prstGeom>
        </p:spPr>
      </p:pic>
      <p:sp>
        <p:nvSpPr>
          <p:cNvPr id="6" name="Rectangle 10"/>
          <p:cNvSpPr>
            <a:spLocks noChangeArrowheads="1"/>
          </p:cNvSpPr>
          <p:nvPr userDrawn="1"/>
        </p:nvSpPr>
        <p:spPr bwMode="invGray">
          <a:xfrm>
            <a:off x="-9526" y="4740536"/>
            <a:ext cx="9153526" cy="1103313"/>
          </a:xfrm>
          <a:prstGeom prst="rect">
            <a:avLst/>
          </a:prstGeom>
          <a:solidFill>
            <a:srgbClr val="6699FF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ko-KR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67031" y="4870525"/>
            <a:ext cx="7006814" cy="838200"/>
          </a:xfrm>
          <a:prstGeom prst="rect">
            <a:avLst/>
          </a:prstGeom>
          <a:solidFill>
            <a:srgbClr val="6699FF"/>
          </a:solidFill>
        </p:spPr>
        <p:txBody>
          <a:bodyPr/>
          <a:lstStyle>
            <a:lvl1pPr marL="717550" indent="0" algn="r">
              <a:defRPr sz="3600" b="1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ko-KR" dirty="0" err="1" smtClean="0"/>
              <a:t>jQuery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xmlns="" val="29545188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9699" y="1269403"/>
            <a:ext cx="8618239" cy="4991548"/>
          </a:xfrm>
        </p:spPr>
        <p:txBody>
          <a:bodyPr/>
          <a:lstStyle>
            <a:lvl1pPr>
              <a:buClr>
                <a:srgbClr val="460000"/>
              </a:buClr>
              <a:buFont typeface="Wingdings" pitchFamily="2" charset="2"/>
              <a:buChar char="u"/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rgbClr val="5C0000"/>
              </a:buClr>
              <a:buFont typeface="Wingdings" pitchFamily="2" charset="2"/>
              <a:buChar char="l"/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rgbClr val="5C0000"/>
              </a:buClr>
              <a:buFont typeface="Wingdings" pitchFamily="2" charset="2"/>
              <a:buChar char="§"/>
              <a:defRPr>
                <a:latin typeface="맑은 고딕" pitchFamily="50" charset="-127"/>
                <a:ea typeface="맑은 고딕" pitchFamily="50" charset="-127"/>
              </a:defRPr>
            </a:lvl3pPr>
            <a:lvl4pPr>
              <a:buClr>
                <a:srgbClr val="7E0404"/>
              </a:buClr>
              <a:defRPr>
                <a:latin typeface="맑은 고딕" pitchFamily="50" charset="-127"/>
                <a:ea typeface="맑은 고딕" pitchFamily="50" charset="-127"/>
              </a:defRPr>
            </a:lvl4pPr>
            <a:lvl5pPr>
              <a:buClr>
                <a:srgbClr val="68040B"/>
              </a:buClr>
              <a:buFont typeface="Wingdings" pitchFamily="2" charset="2"/>
              <a:buChar char="ü"/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CEC61B-8E5B-428C-BF4B-91CC7F06BD36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5" name="제목 개체 틀 27"/>
          <p:cNvSpPr>
            <a:spLocks noGrp="1"/>
          </p:cNvSpPr>
          <p:nvPr>
            <p:ph type="title"/>
          </p:nvPr>
        </p:nvSpPr>
        <p:spPr>
          <a:xfrm>
            <a:off x="355002" y="193638"/>
            <a:ext cx="6207163" cy="473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921129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EB8132-3E69-42D4-86FC-16113E9DD667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4" name="제목 개체 틀 27"/>
          <p:cNvSpPr>
            <a:spLocks noGrp="1"/>
          </p:cNvSpPr>
          <p:nvPr>
            <p:ph type="title"/>
          </p:nvPr>
        </p:nvSpPr>
        <p:spPr>
          <a:xfrm>
            <a:off x="355002" y="193638"/>
            <a:ext cx="6207163" cy="473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888753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371E074-CA2B-4440-94E7-E49724C4F161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3" name="제목 개체 틀 27"/>
          <p:cNvSpPr>
            <a:spLocks noGrp="1"/>
          </p:cNvSpPr>
          <p:nvPr>
            <p:ph type="title"/>
          </p:nvPr>
        </p:nvSpPr>
        <p:spPr>
          <a:xfrm>
            <a:off x="355002" y="193638"/>
            <a:ext cx="6207163" cy="473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3314921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1_Cray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699" y="1258645"/>
            <a:ext cx="8618239" cy="50453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60804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/>
          <a:lstStyle>
            <a:lvl1pPr algn="r" eaLnBrk="1" hangingPunct="1">
              <a:defRPr sz="1400">
                <a:latin typeface="+mn-lt"/>
                <a:ea typeface="+mn-ea"/>
              </a:defRPr>
            </a:lvl1pPr>
          </a:lstStyle>
          <a:p>
            <a:fld id="{056D23D7-10E6-485D-80C1-8CCF7E24002C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7" name="Freeform 126"/>
          <p:cNvSpPr/>
          <p:nvPr userDrawn="1"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2147483646 w 3800"/>
              <a:gd name="T3" fmla="*/ 0 h 428"/>
              <a:gd name="T4" fmla="*/ 2147483646 w 3800"/>
              <a:gd name="T5" fmla="*/ 2147483646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</a:ln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192"/>
          <p:cNvGrpSpPr/>
          <p:nvPr/>
        </p:nvGrpSpPr>
        <p:grpSpPr>
          <a:xfrm>
            <a:off x="236668" y="720761"/>
            <a:ext cx="8665342" cy="79709"/>
            <a:chOff x="192" y="446"/>
            <a:chExt cx="5513" cy="78"/>
          </a:xfrm>
          <a:solidFill>
            <a:srgbClr val="000066"/>
          </a:solidFill>
        </p:grpSpPr>
        <p:sp>
          <p:nvSpPr>
            <p:cNvPr id="11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grpFill/>
            <a:ln w="9525">
              <a:solidFill>
                <a:srgbClr val="0000FF"/>
              </a:solidFill>
              <a:miter/>
            </a:ln>
            <a:effectLst/>
          </p:spPr>
          <p:txBody>
            <a:bodyPr wrap="none" anchor="ctr"/>
            <a:lstStyle/>
            <a:p>
              <a:pPr hangingPunct="1"/>
              <a:endParaRPr lang="ko-KR" altLang="en-US" sz="1800">
                <a:solidFill>
                  <a:srgbClr val="000000"/>
                </a:solidFill>
                <a:latin typeface="Arial"/>
                <a:ea typeface="굴림"/>
              </a:endParaRPr>
            </a:p>
          </p:txBody>
        </p:sp>
        <p:sp>
          <p:nvSpPr>
            <p:cNvPr id="12" name="Line 194"/>
            <p:cNvSpPr>
              <a:spLocks noChangeShapeType="1"/>
            </p:cNvSpPr>
            <p:nvPr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grpFill/>
            <a:ln w="19050">
              <a:solidFill>
                <a:srgbClr val="000066"/>
              </a:solidFill>
              <a:round/>
            </a:ln>
            <a:effectLst/>
          </p:spPr>
          <p:txBody>
            <a:bodyPr wrap="square"/>
            <a:lstStyle/>
            <a:p>
              <a:pPr hangingPunct="1"/>
              <a:endParaRPr lang="ko-KR" altLang="en-US" sz="180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  <p:sp>
        <p:nvSpPr>
          <p:cNvPr id="28" name="제목 개체 틀 27"/>
          <p:cNvSpPr>
            <a:spLocks noGrp="1"/>
          </p:cNvSpPr>
          <p:nvPr>
            <p:ph type="title"/>
          </p:nvPr>
        </p:nvSpPr>
        <p:spPr>
          <a:xfrm>
            <a:off x="355002" y="193638"/>
            <a:ext cx="6207163" cy="47333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4000" b="1">
          <a:solidFill>
            <a:srgbClr val="000066"/>
          </a:solidFill>
          <a:effectLst>
            <a:outerShdw blurRad="38100" dist="38100" dir="2700000" algn="tl">
              <a:srgbClr val="000000">
                <a:alpha val="43140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omic Sans MS"/>
          <a:ea typeface="굴림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760000"/>
        </a:buClr>
        <a:buFont typeface="Wingdings"/>
        <a:buChar char="u"/>
        <a:defRPr kumimoji="1" sz="20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70060E"/>
        </a:buClr>
        <a:buFont typeface="Wingdings"/>
        <a:buChar char="l"/>
        <a:defRPr kumimoji="1" sz="2000">
          <a:solidFill>
            <a:schemeClr val="tx1"/>
          </a:solidFill>
          <a:latin typeface="맑은 고딕"/>
          <a:ea typeface="맑은 고딕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rgbClr val="680816"/>
        </a:buClr>
        <a:buFont typeface="Wingdings"/>
        <a:buChar char="§"/>
        <a:defRPr kumimoji="1">
          <a:solidFill>
            <a:schemeClr val="tx1"/>
          </a:solidFill>
          <a:latin typeface="맑은 고딕"/>
          <a:ea typeface="맑은 고딕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rgbClr val="680404"/>
        </a:buClr>
        <a:buFont typeface="Arial"/>
        <a:buChar char="•"/>
        <a:defRPr kumimoji="1" sz="1600">
          <a:solidFill>
            <a:schemeClr val="tx1"/>
          </a:solidFill>
          <a:latin typeface="맑은 고딕"/>
          <a:ea typeface="맑은 고딕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rgbClr val="720808"/>
        </a:buClr>
        <a:buFont typeface="Wingdings"/>
        <a:buChar char="ü"/>
        <a:defRPr kumimoji="1" sz="1400">
          <a:solidFill>
            <a:schemeClr val="tx1"/>
          </a:solidFill>
          <a:latin typeface="맑은 고딕"/>
          <a:ea typeface="맑은 고딕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Font typeface="Symbol"/>
        <a:buChar char="·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Font typeface="Symbol"/>
        <a:buChar char="·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Font typeface="Symbol"/>
        <a:buChar char="·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Font typeface="Symbol"/>
        <a:buChar char="·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50946" y="5034579"/>
            <a:ext cx="29475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800" b="1"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</a:rPr>
              <a:t>jQuery </a:t>
            </a:r>
            <a:r>
              <a:rPr lang="ko-KR" altLang="en-US" sz="2800" b="1"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</a:rPr>
              <a:t>선택자</a:t>
            </a:r>
          </a:p>
        </p:txBody>
      </p:sp>
      <p:pic>
        <p:nvPicPr>
          <p:cNvPr id="7" name="그림 6" descr="bottom-logo.jpg"/>
          <p:cNvPicPr>
            <a:picLocks noChangeAspect="1"/>
          </p:cNvPicPr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3742261" y="6135671"/>
            <a:ext cx="1724025" cy="2667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/>
          <p:cNvGraphicFramePr>
            <a:graphicFrameLocks noGrp="1"/>
          </p:cNvGraphicFramePr>
          <p:nvPr>
            <p:ph/>
          </p:nvPr>
        </p:nvGraphicFramePr>
        <p:xfrm>
          <a:off x="535193" y="1376530"/>
          <a:ext cx="8212138" cy="4002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703378"/>
              </a:tblGrid>
              <a:tr h="4822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셀렉터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설      명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*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모든요소</a:t>
                      </a:r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태그명이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인 모든 요소</a:t>
                      </a:r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E1.class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 중 </a:t>
                      </a:r>
                      <a:r>
                        <a:rPr lang="en-US" altLang="ko-KR"/>
                        <a:t>CLASS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class</a:t>
                      </a:r>
                      <a:r>
                        <a:rPr lang="ko-KR" altLang="en-US"/>
                        <a:t>와 같은 모든 요소</a:t>
                      </a:r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E1#id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 중 </a:t>
                      </a:r>
                      <a:r>
                        <a:rPr lang="en-US" altLang="ko-KR"/>
                        <a:t>ID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id</a:t>
                      </a:r>
                      <a:r>
                        <a:rPr lang="ko-KR" altLang="en-US"/>
                        <a:t>와 같은 요소</a:t>
                      </a:r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E1, E2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요소와 모든 </a:t>
                      </a:r>
                      <a:r>
                        <a:rPr lang="en-US" altLang="ko-KR"/>
                        <a:t>E2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 E2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r>
                        <a:rPr lang="ko-KR" altLang="en-US"/>
                        <a:t>의 자식 요소 중 모든 </a:t>
                      </a:r>
                      <a:r>
                        <a:rPr lang="en-US" altLang="ko-KR"/>
                        <a:t>E2</a:t>
                      </a:r>
                      <a:r>
                        <a:rPr lang="ko-KR" altLang="en-US"/>
                        <a:t>요소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후손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 &gt; E2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r>
                        <a:rPr lang="ko-KR" altLang="en-US"/>
                        <a:t>의 바로 아래 자식요소 중 모든 </a:t>
                      </a:r>
                      <a:r>
                        <a:rPr lang="en-US" altLang="ko-KR"/>
                        <a:t>E2</a:t>
                      </a:r>
                      <a:r>
                        <a:rPr lang="ko-KR" altLang="en-US"/>
                        <a:t>요소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자식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 + E2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r>
                        <a:rPr lang="ko-KR" altLang="en-US"/>
                        <a:t>의 바로 다음에 오는 형제요소 중 </a:t>
                      </a:r>
                      <a:r>
                        <a:rPr lang="en-US" altLang="ko-KR"/>
                        <a:t>E2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3911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 ~E2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</a:t>
                      </a:r>
                      <a:r>
                        <a:rPr lang="ko-KR" altLang="en-US"/>
                        <a:t>의 다음에 나오는 형제요소 중 모든 </a:t>
                      </a:r>
                      <a:r>
                        <a:rPr lang="en-US" altLang="ko-KR"/>
                        <a:t>E2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ko-KR"/>
              <a:t>1.</a:t>
            </a:r>
            <a:r>
              <a:rPr lang="ko-KR" altLang="en-US"/>
              <a:t>선택자 엘리먼트 관련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5911" y="1258645"/>
            <a:ext cx="8672027" cy="5023821"/>
          </a:xfrm>
        </p:spPr>
        <p:txBody>
          <a:bodyPr/>
          <a:lstStyle/>
          <a:p>
            <a:pPr>
              <a:buNone/>
            </a:pPr>
            <a:r>
              <a:rPr lang="en-US" altLang="ko-KR"/>
              <a:t>&lt;script   src="jquery-3.4.1.min.js"&gt;&lt;/script&gt;</a:t>
            </a:r>
          </a:p>
          <a:p>
            <a:pPr>
              <a:buNone/>
            </a:pPr>
            <a:r>
              <a:rPr lang="en-US" altLang="ko-KR"/>
              <a:t>&lt;script&gt;</a:t>
            </a:r>
          </a:p>
          <a:p>
            <a:pPr>
              <a:buNone/>
            </a:pPr>
            <a:r>
              <a:rPr lang="en-US" altLang="ko-KR"/>
              <a:t>   //h2</a:t>
            </a:r>
            <a:r>
              <a:rPr lang="ko-KR" altLang="en-US"/>
              <a:t>의 자식 </a:t>
            </a:r>
            <a:r>
              <a:rPr lang="en-US" altLang="ko-KR"/>
              <a:t>a </a:t>
            </a:r>
            <a:r>
              <a:rPr lang="ko-KR" altLang="en-US"/>
              <a:t>태그의 스타일 에 테두리 설정 </a:t>
            </a:r>
            <a:r>
              <a:rPr lang="en-US" altLang="ko-KR"/>
              <a:t>- solid</a:t>
            </a:r>
          </a:p>
          <a:p>
            <a:pPr>
              <a:buNone/>
            </a:pPr>
            <a:r>
              <a:rPr lang="en-US" altLang="ko-KR"/>
              <a:t>   //h2</a:t>
            </a:r>
            <a:r>
              <a:rPr lang="ko-KR" altLang="en-US"/>
              <a:t>의 후손 </a:t>
            </a:r>
            <a:r>
              <a:rPr lang="en-US" altLang="ko-KR"/>
              <a:t>a</a:t>
            </a:r>
            <a:r>
              <a:rPr lang="ko-KR" altLang="en-US"/>
              <a:t>태그의 스타일 배경색 을 노란색으로 변경 </a:t>
            </a:r>
          </a:p>
          <a:p>
            <a:pPr>
              <a:buNone/>
            </a:pPr>
            <a:r>
              <a:rPr lang="en-US" altLang="ko-KR"/>
              <a:t>  &lt;/script&gt;</a:t>
            </a:r>
          </a:p>
          <a:p>
            <a:pPr>
              <a:buNone/>
            </a:pPr>
            <a:endParaRPr lang="en-US" altLang="ko-KR"/>
          </a:p>
          <a:p>
            <a:pPr>
              <a:buNone/>
            </a:pPr>
            <a:r>
              <a:rPr lang="en-US" altLang="ko-KR"/>
              <a:t>&lt;body&gt;</a:t>
            </a:r>
          </a:p>
          <a:p>
            <a:pPr>
              <a:buNone/>
            </a:pPr>
            <a:r>
              <a:rPr lang="en-US" altLang="ko-KR"/>
              <a:t>&lt;h2&gt; </a:t>
            </a:r>
            <a:r>
              <a:rPr lang="ko-KR" altLang="en-US"/>
              <a:t>문단 안에 </a:t>
            </a:r>
            <a:r>
              <a:rPr lang="en-US" altLang="ko-KR"/>
              <a:t>&lt;a&gt;</a:t>
            </a:r>
            <a:r>
              <a:rPr lang="ko-KR" altLang="en-US"/>
              <a:t>링크</a:t>
            </a:r>
            <a:r>
              <a:rPr lang="en-US" altLang="ko-KR"/>
              <a:t>&lt;/a&gt; </a:t>
            </a:r>
            <a:r>
              <a:rPr lang="ko-KR" altLang="en-US"/>
              <a:t>태그가 있다</a:t>
            </a:r>
          </a:p>
          <a:p>
            <a:pPr>
              <a:buNone/>
            </a:pPr>
            <a:r>
              <a:rPr lang="ko-KR" altLang="en-US"/>
              <a:t>     두번째  </a:t>
            </a:r>
            <a:r>
              <a:rPr lang="en-US" altLang="ko-KR"/>
              <a:t>&lt;span&gt;&lt;a&gt;</a:t>
            </a:r>
            <a:r>
              <a:rPr lang="ko-KR" altLang="en-US"/>
              <a:t>링크</a:t>
            </a:r>
            <a:r>
              <a:rPr lang="en-US" altLang="ko-KR"/>
              <a:t>&lt;/a&gt;&lt;/span&gt; </a:t>
            </a:r>
            <a:r>
              <a:rPr lang="ko-KR" altLang="en-US"/>
              <a:t>은 손자이다 </a:t>
            </a:r>
          </a:p>
          <a:p>
            <a:pPr>
              <a:buNone/>
            </a:pPr>
            <a:r>
              <a:rPr lang="en-US" altLang="ko-KR"/>
              <a:t>&lt;/h2&gt;</a:t>
            </a:r>
          </a:p>
          <a:p>
            <a:pPr>
              <a:buNone/>
            </a:pPr>
            <a:r>
              <a:rPr lang="en-US" altLang="ko-KR"/>
              <a:t>&lt;/body&gt;</a:t>
            </a:r>
          </a:p>
          <a:p>
            <a:pPr>
              <a:buNone/>
            </a:pPr>
            <a:endParaRPr lang="en-US" altLang="ko-K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507299" y="2940198"/>
            <a:ext cx="5743575" cy="438150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</a:ln>
          <a:effectLst>
            <a:innerShdw blurRad="114300">
              <a:prstClr val="black"/>
            </a:innerShdw>
          </a:effectLst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ko-KR" altLang="en-US"/>
              <a:t>예제 선택자 </a:t>
            </a:r>
            <a:r>
              <a:rPr lang="en-US" altLang="ko-KR"/>
              <a:t>– </a:t>
            </a:r>
            <a:r>
              <a:rPr lang="ko-KR" altLang="en-US"/>
              <a:t>후손</a:t>
            </a:r>
            <a:r>
              <a:rPr lang="en-US" altLang="ko-KR"/>
              <a:t>, </a:t>
            </a:r>
            <a:r>
              <a:rPr lang="ko-KR" altLang="en-US"/>
              <a:t>자식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4245" y="1000462"/>
            <a:ext cx="8650512" cy="513386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/>
              <a:t>&lt;body&gt; </a:t>
            </a:r>
          </a:p>
          <a:p>
            <a:pPr marL="0" indent="0">
              <a:buNone/>
            </a:pPr>
            <a:r>
              <a:rPr lang="en-US" altLang="ko-KR" sz="1800"/>
              <a:t>&lt;p&gt;</a:t>
            </a:r>
            <a:r>
              <a:rPr lang="ko-KR" altLang="en-US" sz="1800"/>
              <a:t>이 문단에는 </a:t>
            </a:r>
            <a:r>
              <a:rPr lang="en-US" altLang="ko-KR" sz="1800"/>
              <a:t>&lt;span&gt;</a:t>
            </a:r>
            <a:r>
              <a:rPr lang="ko-KR" altLang="en-US" sz="1800"/>
              <a:t>스팬</a:t>
            </a:r>
            <a:r>
              <a:rPr lang="en-US" altLang="ko-KR" sz="1800"/>
              <a:t>&lt;/span&gt; </a:t>
            </a:r>
            <a:r>
              <a:rPr lang="ko-KR" altLang="en-US" sz="1800"/>
              <a:t>엘리먼트가 있다</a:t>
            </a:r>
            <a:r>
              <a:rPr lang="en-US" altLang="ko-KR" sz="1800"/>
              <a:t>&lt;/p&gt;</a:t>
            </a:r>
          </a:p>
          <a:p>
            <a:pPr marL="0" indent="0">
              <a:buNone/>
            </a:pPr>
            <a:r>
              <a:rPr lang="en-US" altLang="ko-KR" sz="1800"/>
              <a:t> </a:t>
            </a:r>
          </a:p>
          <a:p>
            <a:pPr marL="0" indent="0">
              <a:buNone/>
            </a:pPr>
            <a:r>
              <a:rPr lang="en-US" altLang="ko-KR" sz="1800"/>
              <a:t> &lt;div&gt;</a:t>
            </a:r>
          </a:p>
          <a:p>
            <a:pPr marL="0" indent="0">
              <a:buNone/>
            </a:pPr>
            <a:r>
              <a:rPr lang="en-US" altLang="ko-KR" sz="1800"/>
              <a:t>    </a:t>
            </a:r>
            <a:r>
              <a:rPr lang="ko-KR" altLang="en-US" sz="1800"/>
              <a:t>이 디비젼에도  </a:t>
            </a:r>
            <a:r>
              <a:rPr lang="en-US" altLang="ko-KR" sz="1800"/>
              <a:t>&lt;span&gt;</a:t>
            </a:r>
            <a:r>
              <a:rPr lang="ko-KR" altLang="en-US" sz="1800"/>
              <a:t>스팬</a:t>
            </a:r>
            <a:r>
              <a:rPr lang="en-US" altLang="ko-KR" sz="1800"/>
              <a:t>&lt;/span&gt; </a:t>
            </a:r>
            <a:r>
              <a:rPr lang="ko-KR" altLang="en-US" sz="1800"/>
              <a:t>엘리먼트가 있다 </a:t>
            </a:r>
          </a:p>
          <a:p>
            <a:pPr marL="0" indent="0">
              <a:buNone/>
            </a:pPr>
            <a:r>
              <a:rPr lang="ko-KR" altLang="en-US" sz="1800"/>
              <a:t>    </a:t>
            </a:r>
            <a:r>
              <a:rPr lang="en-US" altLang="ko-KR" sz="1800"/>
              <a:t>&lt;p&gt;</a:t>
            </a:r>
            <a:r>
              <a:rPr lang="ko-KR" altLang="en-US" sz="1800"/>
              <a:t>디비젼의  내부 문단의 </a:t>
            </a:r>
            <a:r>
              <a:rPr lang="en-US" altLang="ko-KR" sz="1800"/>
              <a:t>&lt;span&gt;</a:t>
            </a:r>
            <a:r>
              <a:rPr lang="ko-KR" altLang="en-US" sz="1800"/>
              <a:t>스팬</a:t>
            </a:r>
            <a:r>
              <a:rPr lang="en-US" altLang="ko-KR" sz="1800"/>
              <a:t>&lt;/span&gt; </a:t>
            </a:r>
            <a:r>
              <a:rPr lang="ko-KR" altLang="en-US" sz="1800"/>
              <a:t>엘리먼트이다 </a:t>
            </a:r>
            <a:r>
              <a:rPr lang="en-US" altLang="ko-KR" sz="1800"/>
              <a:t>&lt;/p&gt;</a:t>
            </a:r>
          </a:p>
          <a:p>
            <a:pPr marL="0" indent="0">
              <a:buNone/>
            </a:pPr>
            <a:r>
              <a:rPr lang="en-US" altLang="ko-KR" sz="1800"/>
              <a:t> </a:t>
            </a:r>
          </a:p>
          <a:p>
            <a:pPr marL="0" indent="0">
              <a:buNone/>
            </a:pPr>
            <a:r>
              <a:rPr lang="en-US" altLang="ko-KR" sz="1800"/>
              <a:t>    &lt;div&gt;  </a:t>
            </a:r>
          </a:p>
          <a:p>
            <a:pPr marL="0" indent="0">
              <a:buNone/>
            </a:pPr>
            <a:r>
              <a:rPr lang="en-US" altLang="ko-KR" sz="1800"/>
              <a:t>        &lt;p&gt; </a:t>
            </a:r>
            <a:r>
              <a:rPr lang="ko-KR" altLang="en-US" sz="1800"/>
              <a:t>내부 디비젼의   다시 문단 속 아주</a:t>
            </a:r>
          </a:p>
          <a:p>
            <a:pPr marL="0" indent="0">
              <a:buNone/>
            </a:pPr>
            <a:r>
              <a:rPr lang="ko-KR" altLang="en-US" sz="1800"/>
              <a:t>           	  </a:t>
            </a:r>
            <a:r>
              <a:rPr lang="en-US" altLang="ko-KR" sz="1800"/>
              <a:t>&lt;strong&gt;</a:t>
            </a:r>
            <a:r>
              <a:rPr lang="ko-KR" altLang="en-US" sz="1800"/>
              <a:t>깊은곳에 </a:t>
            </a:r>
            <a:r>
              <a:rPr lang="en-US" altLang="ko-KR" sz="1800"/>
              <a:t>&lt;/strong&gt;</a:t>
            </a:r>
          </a:p>
          <a:p>
            <a:pPr marL="0" indent="0">
              <a:buNone/>
            </a:pPr>
            <a:r>
              <a:rPr lang="en-US" altLang="ko-KR" sz="1800"/>
              <a:t>                    &lt;em&gt; </a:t>
            </a:r>
            <a:r>
              <a:rPr lang="ko-KR" altLang="en-US" sz="1800"/>
              <a:t>숨어있는 </a:t>
            </a:r>
            <a:r>
              <a:rPr lang="en-US" altLang="ko-KR" sz="1800"/>
              <a:t>&lt;/em&gt;</a:t>
            </a:r>
          </a:p>
          <a:p>
            <a:pPr marL="0" indent="0">
              <a:buNone/>
            </a:pPr>
            <a:r>
              <a:rPr lang="en-US" altLang="ko-KR" sz="1800"/>
              <a:t>                    &lt;span&gt;</a:t>
            </a:r>
            <a:r>
              <a:rPr lang="ko-KR" altLang="en-US" sz="1800"/>
              <a:t>스팬</a:t>
            </a:r>
            <a:r>
              <a:rPr lang="en-US" altLang="ko-KR" sz="1800"/>
              <a:t>&lt;/span&gt;</a:t>
            </a:r>
          </a:p>
          <a:p>
            <a:pPr marL="0" indent="0">
              <a:buNone/>
            </a:pPr>
            <a:r>
              <a:rPr lang="en-US" altLang="ko-KR" sz="1800"/>
              <a:t>	</a:t>
            </a:r>
            <a:r>
              <a:rPr lang="ko-KR" altLang="en-US" sz="1800"/>
              <a:t>엘리먼트도 있다 </a:t>
            </a:r>
          </a:p>
          <a:p>
            <a:pPr marL="0" indent="0">
              <a:buNone/>
            </a:pPr>
            <a:r>
              <a:rPr lang="ko-KR" altLang="en-US" sz="1800"/>
              <a:t>        </a:t>
            </a:r>
            <a:r>
              <a:rPr lang="en-US" altLang="ko-KR" sz="1800"/>
              <a:t>&lt;/p&gt;</a:t>
            </a:r>
          </a:p>
          <a:p>
            <a:pPr marL="0" indent="0">
              <a:buNone/>
            </a:pPr>
            <a:r>
              <a:rPr lang="en-US" altLang="ko-KR" sz="1800"/>
              <a:t>    &lt;/div&gt;</a:t>
            </a:r>
          </a:p>
          <a:p>
            <a:pPr marL="0" indent="0">
              <a:buNone/>
            </a:pPr>
            <a:r>
              <a:rPr lang="en-US" altLang="ko-KR" sz="1800"/>
              <a:t> &lt;/div&gt; </a:t>
            </a:r>
          </a:p>
          <a:p>
            <a:pPr marL="0" indent="0">
              <a:buNone/>
            </a:pPr>
            <a:r>
              <a:rPr lang="en-US" altLang="ko-KR" sz="1800"/>
              <a:t>&lt;/body&gt;</a:t>
            </a:r>
          </a:p>
          <a:p>
            <a:pPr marL="0" indent="0">
              <a:buNone/>
            </a:pPr>
            <a:r>
              <a:rPr lang="en-US" altLang="ko-KR" sz="1600"/>
              <a:t>                                                     </a:t>
            </a:r>
            <a:endParaRPr lang="ko-KR" altLang="en-US" sz="16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ko-KR" altLang="en-US"/>
              <a:t>예제 선택자 </a:t>
            </a:r>
            <a:r>
              <a:rPr lang="en-US" altLang="ko-KR"/>
              <a:t>– </a:t>
            </a:r>
            <a:r>
              <a:rPr lang="ko-KR" altLang="en-US"/>
              <a:t>후손</a:t>
            </a:r>
            <a:r>
              <a:rPr lang="en-US" altLang="ko-KR"/>
              <a:t>, </a:t>
            </a:r>
            <a:r>
              <a:rPr lang="ko-KR" altLang="en-US"/>
              <a:t>자식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1594" y="230393"/>
            <a:ext cx="7789862" cy="5715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/>
            <a:r>
              <a:rPr lang="ko-KR" altLang="en-US"/>
              <a:t>선택자 </a:t>
            </a:r>
            <a:r>
              <a:rPr lang="en-US" altLang="ko-KR"/>
              <a:t>– </a:t>
            </a:r>
            <a:r>
              <a:rPr lang="ko-KR" altLang="en-US"/>
              <a:t>후손</a:t>
            </a:r>
            <a:r>
              <a:rPr lang="en-US" altLang="ko-KR"/>
              <a:t>, </a:t>
            </a:r>
            <a:r>
              <a:rPr lang="ko-KR" altLang="en-US"/>
              <a:t>자식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pPr lvl="0"/>
            <a:r>
              <a:rPr lang="en-US" altLang="ko-KR"/>
              <a:t>span</a:t>
            </a:r>
            <a:r>
              <a:rPr lang="ko-KR" altLang="en-US"/>
              <a:t>태그의 배경색 변경</a:t>
            </a:r>
            <a:r>
              <a:rPr lang="en-US" altLang="ko-KR"/>
              <a:t>- yellow</a:t>
            </a:r>
          </a:p>
          <a:p>
            <a:pPr lvl="0"/>
            <a:r>
              <a:rPr lang="en-US" altLang="ko-KR"/>
              <a:t>div</a:t>
            </a:r>
            <a:r>
              <a:rPr lang="ko-KR" altLang="en-US"/>
              <a:t>의 모든 후손중  </a:t>
            </a:r>
            <a:r>
              <a:rPr lang="en-US" altLang="ko-KR"/>
              <a:t>span </a:t>
            </a:r>
            <a:r>
              <a:rPr lang="ko-KR" altLang="en-US"/>
              <a:t>태그의 테두리  </a:t>
            </a:r>
            <a:r>
              <a:rPr lang="en-US" altLang="ko-KR"/>
              <a:t>- red</a:t>
            </a:r>
          </a:p>
          <a:p>
            <a:pPr lvl="0"/>
            <a:r>
              <a:rPr lang="en-US" altLang="ko-KR"/>
              <a:t>div</a:t>
            </a:r>
            <a:r>
              <a:rPr lang="ko-KR" altLang="en-US"/>
              <a:t>의 바로 다음 자식 </a:t>
            </a:r>
            <a:r>
              <a:rPr lang="en-US" altLang="ko-KR"/>
              <a:t>span</a:t>
            </a:r>
            <a:r>
              <a:rPr lang="ko-KR" altLang="en-US"/>
              <a:t>태그의 테두리  </a:t>
            </a:r>
            <a:r>
              <a:rPr lang="en-US" altLang="ko-KR"/>
              <a:t>- blue</a:t>
            </a:r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45788" y="3359337"/>
            <a:ext cx="5654675" cy="210185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7426" y="1280160"/>
            <a:ext cx="8650512" cy="5066852"/>
          </a:xfrm>
        </p:spPr>
        <p:txBody>
          <a:bodyPr/>
          <a:lstStyle/>
          <a:p>
            <a:pPr>
              <a:buNone/>
            </a:pPr>
            <a:r>
              <a:rPr lang="en-US" altLang="ko-KR"/>
              <a:t>&lt;script type="text/javascript"&gt;</a:t>
            </a:r>
          </a:p>
          <a:p>
            <a:pPr>
              <a:buNone/>
            </a:pPr>
            <a:r>
              <a:rPr lang="en-US" altLang="ko-KR"/>
              <a:t>   $(function(){ </a:t>
            </a:r>
          </a:p>
          <a:p>
            <a:pPr>
              <a:buNone/>
            </a:pPr>
            <a:r>
              <a:rPr lang="en-US" altLang="ko-KR"/>
              <a:t>	  //h3 </a:t>
            </a:r>
            <a:r>
              <a:rPr lang="ko-KR" altLang="en-US"/>
              <a:t>다음의 모든 형제의 배경색을 변경</a:t>
            </a:r>
            <a:r>
              <a:rPr lang="en-US" altLang="ko-KR"/>
              <a:t>, </a:t>
            </a:r>
            <a:r>
              <a:rPr lang="ko-KR" altLang="en-US"/>
              <a:t>길이지정</a:t>
            </a:r>
            <a:r>
              <a:rPr lang="en-US" altLang="ko-KR"/>
              <a:t>, </a:t>
            </a:r>
            <a:r>
              <a:rPr lang="ko-KR" altLang="en-US"/>
              <a:t>가운데정렬</a:t>
            </a:r>
          </a:p>
          <a:p>
            <a:pPr>
              <a:buNone/>
            </a:pPr>
            <a:r>
              <a:rPr lang="en-US" altLang="ko-KR"/>
              <a:t>      //h3 </a:t>
            </a:r>
            <a:r>
              <a:rPr lang="ko-KR" altLang="en-US"/>
              <a:t>다음의 첫번째 형제의 글자를 굵게</a:t>
            </a:r>
            <a:r>
              <a:rPr lang="en-US" altLang="ko-KR"/>
              <a:t>, </a:t>
            </a:r>
            <a:r>
              <a:rPr lang="ko-KR" altLang="en-US"/>
              <a:t>크게  </a:t>
            </a:r>
            <a:r>
              <a:rPr lang="en-US" altLang="ko-KR"/>
              <a:t>: font-weight</a:t>
            </a:r>
            <a:r>
              <a:rPr lang="ko-KR" altLang="en-US"/>
              <a:t> </a:t>
            </a:r>
          </a:p>
          <a:p>
            <a:pPr>
              <a:buNone/>
            </a:pPr>
            <a:r>
              <a:rPr lang="ko-KR" altLang="en-US"/>
              <a:t>   </a:t>
            </a:r>
            <a:r>
              <a:rPr lang="en-US" altLang="ko-KR"/>
              <a:t>});</a:t>
            </a:r>
          </a:p>
          <a:p>
            <a:pPr>
              <a:buNone/>
            </a:pPr>
            <a:r>
              <a:rPr lang="en-US" altLang="ko-KR"/>
              <a:t>&lt;/script&gt;</a:t>
            </a:r>
          </a:p>
          <a:p>
            <a:pPr>
              <a:buNone/>
            </a:pPr>
            <a:r>
              <a:rPr lang="en-US" altLang="ko-KR"/>
              <a:t>&lt;body&gt;</a:t>
            </a:r>
          </a:p>
          <a:p>
            <a:pPr>
              <a:buNone/>
            </a:pPr>
            <a:r>
              <a:rPr lang="en-US" altLang="ko-KR"/>
              <a:t> &lt;p&gt;</a:t>
            </a:r>
            <a:r>
              <a:rPr lang="ko-KR" altLang="en-US"/>
              <a:t>형제 선택자 에 대하여</a:t>
            </a:r>
            <a:r>
              <a:rPr lang="en-US" altLang="ko-KR"/>
              <a:t>&lt;/p&gt;</a:t>
            </a:r>
          </a:p>
          <a:p>
            <a:pPr>
              <a:buNone/>
            </a:pPr>
            <a:r>
              <a:rPr lang="en-US" altLang="ko-KR"/>
              <a:t> &lt;h3&gt; </a:t>
            </a:r>
            <a:r>
              <a:rPr lang="ko-KR" altLang="en-US"/>
              <a:t>꼬마버스 타요 가족을 소개 합니다</a:t>
            </a:r>
            <a:r>
              <a:rPr lang="en-US" altLang="ko-KR"/>
              <a:t>&lt;/h3&gt;</a:t>
            </a:r>
          </a:p>
          <a:p>
            <a:pPr>
              <a:buNone/>
            </a:pPr>
            <a:r>
              <a:rPr lang="en-US" altLang="ko-KR"/>
              <a:t> &lt;p&gt; </a:t>
            </a:r>
            <a:r>
              <a:rPr lang="ko-KR" altLang="en-US"/>
              <a:t>타요</a:t>
            </a:r>
            <a:r>
              <a:rPr lang="en-US" altLang="ko-KR"/>
              <a:t>&lt;/p&gt;</a:t>
            </a:r>
          </a:p>
          <a:p>
            <a:pPr>
              <a:buNone/>
            </a:pPr>
            <a:r>
              <a:rPr lang="en-US" altLang="ko-KR"/>
              <a:t> &lt;p&gt; </a:t>
            </a:r>
            <a:r>
              <a:rPr lang="ko-KR" altLang="en-US"/>
              <a:t>로기</a:t>
            </a:r>
            <a:r>
              <a:rPr lang="en-US" altLang="ko-KR"/>
              <a:t>&lt;/p&gt;</a:t>
            </a:r>
          </a:p>
          <a:p>
            <a:pPr>
              <a:buNone/>
            </a:pPr>
            <a:r>
              <a:rPr lang="en-US" altLang="ko-KR"/>
              <a:t> &lt;p&gt; </a:t>
            </a:r>
            <a:r>
              <a:rPr lang="ko-KR" altLang="en-US"/>
              <a:t>라니 </a:t>
            </a:r>
            <a:r>
              <a:rPr lang="en-US" altLang="ko-KR"/>
              <a:t>&lt;/p&gt;</a:t>
            </a:r>
          </a:p>
          <a:p>
            <a:pPr>
              <a:buNone/>
            </a:pPr>
            <a:r>
              <a:rPr lang="en-US" altLang="ko-KR"/>
              <a:t> &lt;p&gt; </a:t>
            </a:r>
            <a:r>
              <a:rPr lang="ko-KR" altLang="en-US"/>
              <a:t>가니 </a:t>
            </a:r>
            <a:r>
              <a:rPr lang="en-US" altLang="ko-KR"/>
              <a:t>&lt;/p&gt;</a:t>
            </a:r>
          </a:p>
          <a:p>
            <a:pPr>
              <a:buNone/>
            </a:pPr>
            <a:r>
              <a:rPr lang="en-US" altLang="ko-KR"/>
              <a:t>&lt;/body&gt;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ko-KR" altLang="en-US"/>
              <a:t>예제 선택자 </a:t>
            </a:r>
            <a:r>
              <a:rPr lang="en-US" altLang="ko-KR"/>
              <a:t>- </a:t>
            </a:r>
            <a:r>
              <a:rPr lang="ko-KR" altLang="en-US"/>
              <a:t>형제</a:t>
            </a:r>
          </a:p>
        </p:txBody>
      </p:sp>
      <p:pic>
        <p:nvPicPr>
          <p:cNvPr id="6" name="그림 5" descr="Desktop screenshot (1).png"/>
          <p:cNvPicPr>
            <a:picLocks noChangeAspect="1"/>
          </p:cNvPicPr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669280" y="2876607"/>
            <a:ext cx="3086324" cy="3212222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7426" y="1269402"/>
            <a:ext cx="8650512" cy="5316593"/>
          </a:xfrm>
        </p:spPr>
        <p:txBody>
          <a:bodyPr/>
          <a:lstStyle/>
          <a:p>
            <a:pPr>
              <a:buNone/>
            </a:pPr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ko-KR"/>
              <a:t>2 </a:t>
            </a:r>
            <a:r>
              <a:rPr lang="ko-KR" altLang="en-US"/>
              <a:t>선택자 </a:t>
            </a:r>
            <a:r>
              <a:rPr lang="en-US" altLang="ko-KR"/>
              <a:t>- </a:t>
            </a:r>
            <a:r>
              <a:rPr lang="ko-KR" altLang="en-US"/>
              <a:t>속성관련</a:t>
            </a:r>
          </a:p>
        </p:txBody>
      </p:sp>
      <p:graphicFrame>
        <p:nvGraphicFramePr>
          <p:cNvPr id="6" name="내용 개체 틀 5"/>
          <p:cNvGraphicFramePr/>
          <p:nvPr/>
        </p:nvGraphicFramePr>
        <p:xfrm>
          <a:off x="481405" y="1774564"/>
          <a:ext cx="8212138" cy="4368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004"/>
                <a:gridCol w="6359134"/>
              </a:tblGrid>
              <a:tr h="540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셀렉터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설      명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속성을 갖는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E1[attr=val]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val</a:t>
                      </a:r>
                      <a:r>
                        <a:rPr lang="ko-KR" altLang="en-US"/>
                        <a:t>인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E1[attr^=val]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val</a:t>
                      </a:r>
                      <a:r>
                        <a:rPr lang="ko-KR" altLang="en-US"/>
                        <a:t>으로 시작하는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E1[attr!=val]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val </a:t>
                      </a:r>
                      <a:r>
                        <a:rPr lang="ko-KR" altLang="en-US"/>
                        <a:t>값과 같지 않은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E1[attr$=val]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val</a:t>
                      </a:r>
                      <a:r>
                        <a:rPr lang="ko-KR" altLang="en-US"/>
                        <a:t>으로 끝나는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E1[attr*=val]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val</a:t>
                      </a:r>
                      <a:r>
                        <a:rPr lang="ko-KR" altLang="en-US"/>
                        <a:t>을 포함하는 갖는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4386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 |=val]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</a:t>
                      </a:r>
                      <a:r>
                        <a:rPr lang="en-US" altLang="ko-KR"/>
                        <a:t>val</a:t>
                      </a:r>
                      <a:r>
                        <a:rPr lang="ko-KR" altLang="en-US"/>
                        <a:t>과 같거나 </a:t>
                      </a:r>
                      <a:r>
                        <a:rPr lang="en-US" altLang="ko-KR"/>
                        <a:t>‘val-’</a:t>
                      </a:r>
                      <a:r>
                        <a:rPr lang="ko-KR" altLang="en-US"/>
                        <a:t>로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시작하는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757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E1[attr ~= val]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attr </a:t>
                      </a:r>
                      <a:r>
                        <a:rPr lang="ko-KR" altLang="en-US"/>
                        <a:t>속성값이 공백으로 구분된 값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단어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을 가질 경우 구분된 값 중에 </a:t>
                      </a:r>
                      <a:r>
                        <a:rPr lang="en-US" altLang="ko-KR"/>
                        <a:t>val</a:t>
                      </a:r>
                      <a:r>
                        <a:rPr lang="ko-KR" altLang="en-US"/>
                        <a:t>값과 같은 값을 갖는 모든 </a:t>
                      </a:r>
                      <a:r>
                        <a:rPr lang="en-US" altLang="ko-KR"/>
                        <a:t>E1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8184" y="1269403"/>
            <a:ext cx="8639754" cy="508679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&lt;script &gt;</a:t>
            </a:r>
          </a:p>
          <a:p>
            <a:pPr marL="0" indent="0">
              <a:buNone/>
            </a:pPr>
            <a:r>
              <a:rPr lang="en-US" altLang="ko-KR" dirty="0"/>
              <a:t>   $(function() </a:t>
            </a:r>
            <a:r>
              <a:rPr lang="en-US" altLang="ko-KR" dirty="0" smtClean="0"/>
              <a:t>{</a:t>
            </a:r>
          </a:p>
          <a:p>
            <a:pPr marL="0" indent="0">
              <a:buNone/>
            </a:pPr>
            <a:r>
              <a:rPr lang="en-US" altLang="ko-KR" dirty="0" smtClean="0"/>
              <a:t> </a:t>
            </a:r>
            <a:r>
              <a:rPr lang="en-US" altLang="ko-KR" dirty="0" smtClean="0"/>
              <a:t>   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//title </a:t>
            </a:r>
            <a:r>
              <a:rPr lang="ko-KR" altLang="en-US" dirty="0"/>
              <a:t>속성을 가진 </a:t>
            </a:r>
            <a:r>
              <a:rPr lang="en-US" altLang="ko-KR" dirty="0"/>
              <a:t>p</a:t>
            </a:r>
            <a:r>
              <a:rPr lang="ko-KR" altLang="en-US" dirty="0"/>
              <a:t>요소의 배경색 변경</a:t>
            </a:r>
          </a:p>
          <a:p>
            <a:pPr marL="0" indent="0">
              <a:buNone/>
            </a:pPr>
            <a:r>
              <a:rPr lang="en-US" altLang="ko-KR" dirty="0"/>
              <a:t>        //type</a:t>
            </a:r>
            <a:r>
              <a:rPr lang="ko-KR" altLang="en-US" dirty="0"/>
              <a:t> 속성이 </a:t>
            </a:r>
            <a:r>
              <a:rPr lang="en-US" altLang="ko-KR" dirty="0"/>
              <a:t>password </a:t>
            </a:r>
            <a:r>
              <a:rPr lang="ko-KR" altLang="en-US" dirty="0"/>
              <a:t>인 요소의 테두리 변경</a:t>
            </a:r>
          </a:p>
          <a:p>
            <a:pPr marL="0" indent="0">
              <a:buNone/>
            </a:pPr>
            <a:r>
              <a:rPr lang="en-US" altLang="ko-KR" dirty="0"/>
              <a:t>    });</a:t>
            </a:r>
          </a:p>
          <a:p>
            <a:pPr marL="0" indent="0">
              <a:buNone/>
            </a:pPr>
            <a:r>
              <a:rPr lang="en-US" altLang="ko-KR" dirty="0"/>
              <a:t>&lt;/script&gt; </a:t>
            </a:r>
          </a:p>
          <a:p>
            <a:pPr marL="0" indent="0">
              <a:buNone/>
            </a:pPr>
            <a:r>
              <a:rPr lang="en-US" altLang="ko-KR" dirty="0"/>
              <a:t>&lt;body&gt;</a:t>
            </a:r>
          </a:p>
          <a:p>
            <a:pPr marL="0" indent="0">
              <a:buNone/>
            </a:pPr>
            <a:r>
              <a:rPr lang="en-US" altLang="ko-KR" dirty="0"/>
              <a:t> &lt;p&gt; </a:t>
            </a:r>
            <a:r>
              <a:rPr lang="ko-KR" altLang="en-US" dirty="0"/>
              <a:t>일반 문단입니다 </a:t>
            </a:r>
            <a:r>
              <a:rPr lang="en-US" altLang="ko-KR" dirty="0"/>
              <a:t>&lt;/p&gt;</a:t>
            </a:r>
          </a:p>
          <a:p>
            <a:pPr marL="0" indent="0">
              <a:buNone/>
            </a:pPr>
            <a:r>
              <a:rPr lang="en-US" altLang="ko-KR" dirty="0"/>
              <a:t>  &lt;p title="</a:t>
            </a:r>
            <a:r>
              <a:rPr lang="ko-KR" altLang="en-US" dirty="0" err="1"/>
              <a:t>툴팁으로</a:t>
            </a:r>
            <a:r>
              <a:rPr lang="ko-KR" altLang="en-US" dirty="0"/>
              <a:t> 보입니다</a:t>
            </a:r>
            <a:r>
              <a:rPr lang="en-US" altLang="ko-KR" dirty="0"/>
              <a:t>"&gt; </a:t>
            </a:r>
            <a:r>
              <a:rPr lang="ko-KR" altLang="en-US" dirty="0"/>
              <a:t>타이틀을 가지고 있는 문단입니다 </a:t>
            </a:r>
            <a:r>
              <a:rPr lang="en-US" altLang="ko-KR" dirty="0"/>
              <a:t>&lt;/p&gt;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회원번호  </a:t>
            </a:r>
            <a:r>
              <a:rPr lang="en-US" altLang="ko-KR" dirty="0" smtClean="0"/>
              <a:t>&lt;</a:t>
            </a:r>
            <a:r>
              <a:rPr lang="en-US" altLang="ko-KR" dirty="0"/>
              <a:t>input type="</a:t>
            </a:r>
            <a:r>
              <a:rPr lang="en-US" altLang="ko-KR" dirty="0" smtClean="0"/>
              <a:t>text“&gt;&lt;</a:t>
            </a:r>
            <a:r>
              <a:rPr lang="en-US" altLang="ko-KR" dirty="0" err="1" smtClean="0"/>
              <a:t>br</a:t>
            </a:r>
            <a:r>
              <a:rPr lang="en-US" altLang="ko-KR" dirty="0" smtClean="0"/>
              <a:t>&gt;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비밀번호  </a:t>
            </a:r>
            <a:r>
              <a:rPr lang="en-US" altLang="ko-KR" dirty="0" smtClean="0"/>
              <a:t>&lt;</a:t>
            </a:r>
            <a:r>
              <a:rPr lang="en-US" altLang="ko-KR" dirty="0"/>
              <a:t>input type="</a:t>
            </a:r>
            <a:r>
              <a:rPr lang="en-US" altLang="ko-KR" dirty="0" smtClean="0"/>
              <a:t>password“&gt;</a:t>
            </a:r>
          </a:p>
          <a:p>
            <a:pPr marL="0" indent="0">
              <a:buNone/>
            </a:pPr>
            <a:r>
              <a:rPr lang="en-US" altLang="ko-KR" dirty="0" smtClean="0"/>
              <a:t> </a:t>
            </a:r>
            <a:r>
              <a:rPr lang="en-US" altLang="ko-KR" dirty="0" smtClean="0"/>
              <a:t>  &lt;input type=“button” value=“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”&gt;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&lt;/body&gt;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3510079" y="2892581"/>
            <a:ext cx="5210175" cy="1066102"/>
          </a:xfrm>
          <a:prstGeom prst="rect">
            <a:avLst/>
          </a:prstGeom>
          <a:noFill/>
          <a:ln w="57150">
            <a:solidFill>
              <a:schemeClr val="tx2"/>
            </a:solidFill>
          </a:ln>
          <a:effectLst/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ko-KR" altLang="en-US"/>
              <a:t>속성선택자</a:t>
            </a:r>
            <a:r>
              <a:rPr lang="en-US" altLang="ko-KR"/>
              <a:t>1</a:t>
            </a:r>
            <a:endParaRPr lang="ko-KR" alt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/>
          <p:cNvGraphicFramePr>
            <a:graphicFrameLocks noGrp="1"/>
          </p:cNvGraphicFramePr>
          <p:nvPr>
            <p:ph/>
          </p:nvPr>
        </p:nvGraphicFramePr>
        <p:xfrm>
          <a:off x="513676" y="1623955"/>
          <a:ext cx="8212138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70337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셀렉터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설      명</a:t>
                      </a:r>
                    </a:p>
                  </a:txBody>
                  <a:tcPr>
                    <a:solidFill>
                      <a:srgbClr val="6699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:input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모든 </a:t>
                      </a:r>
                      <a:r>
                        <a:rPr lang="en-US" altLang="ko-KR"/>
                        <a:t>input, </a:t>
                      </a:r>
                      <a:r>
                        <a:rPr lang="ko-KR" altLang="en-US"/>
                        <a:t>모든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button, select, textarea </a:t>
                      </a:r>
                      <a:r>
                        <a:rPr lang="ko-KR" altLang="en-US"/>
                        <a:t>요소들</a:t>
                      </a:r>
                      <a:r>
                        <a:rPr lang="en-US" altLang="ko-KR"/>
                        <a:t> </a:t>
                      </a:r>
                      <a:endParaRPr lang="ko-KR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:text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text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 </a:t>
                      </a:r>
                      <a:r>
                        <a:rPr lang="ko-KR" altLang="en-US"/>
                        <a:t>요소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:password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password 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:radio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radio 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:checkbox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checkbox 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:submit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submit 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</a:t>
                      </a:r>
                      <a:r>
                        <a:rPr lang="ko-KR" altLang="en-US"/>
                        <a:t>과 </a:t>
                      </a:r>
                      <a:r>
                        <a:rPr lang="en-US" altLang="ko-KR"/>
                        <a:t>button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:reset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1080135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/>
                        <a:t>reset 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</a:t>
                      </a:r>
                      <a:r>
                        <a:rPr lang="ko-KR" altLang="en-US"/>
                        <a:t>과</a:t>
                      </a:r>
                      <a:r>
                        <a:rPr lang="en-US" altLang="ko-KR"/>
                        <a:t> button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:image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image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:button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모든 </a:t>
                      </a:r>
                      <a:r>
                        <a:rPr lang="en-US" altLang="ko-KR"/>
                        <a:t>button</a:t>
                      </a:r>
                      <a:r>
                        <a:rPr lang="ko-KR" altLang="en-US"/>
                        <a:t>요소들과 </a:t>
                      </a:r>
                      <a:r>
                        <a:rPr lang="en-US" altLang="ko-KR"/>
                        <a:t> type</a:t>
                      </a:r>
                      <a:r>
                        <a:rPr lang="ko-KR" altLang="en-US"/>
                        <a:t>이 </a:t>
                      </a:r>
                      <a:r>
                        <a:rPr lang="en-US" altLang="ko-KR"/>
                        <a:t>button</a:t>
                      </a:r>
                      <a:r>
                        <a:rPr lang="ko-KR" altLang="en-US"/>
                        <a:t>인</a:t>
                      </a:r>
                      <a:r>
                        <a:rPr lang="en-US" altLang="ko-KR"/>
                        <a:t> input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:file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file</a:t>
                      </a:r>
                      <a:r>
                        <a:rPr lang="ko-KR" altLang="en-US"/>
                        <a:t>타입의 </a:t>
                      </a:r>
                      <a:r>
                        <a:rPr lang="en-US" altLang="ko-KR"/>
                        <a:t>input </a:t>
                      </a:r>
                      <a:r>
                        <a:rPr lang="ko-KR" altLang="en-US"/>
                        <a:t>요소 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ko-KR"/>
              <a:t>3. </a:t>
            </a:r>
            <a:r>
              <a:rPr lang="ko-KR" altLang="en-US"/>
              <a:t>입력양식</a:t>
            </a:r>
            <a:r>
              <a:rPr lang="en-US" altLang="ko-KR"/>
              <a:t>(form)</a:t>
            </a:r>
            <a:r>
              <a:rPr lang="ko-KR" altLang="en-US"/>
              <a:t>선택자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671" y="978946"/>
            <a:ext cx="7239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/>
              <a:buChar char="u"/>
            </a:pPr>
            <a:r>
              <a:rPr lang="ko-KR" altLang="en-US"/>
              <a:t> </a:t>
            </a:r>
            <a:r>
              <a:rPr lang="ko-KR" altLang="en-US" sz="2000">
                <a:latin typeface="맑은 고딕"/>
                <a:ea typeface="맑은 고딕"/>
                <a:cs typeface="+mn-cs"/>
              </a:rPr>
              <a:t>속성 선택자를 간단히 함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6668" y="1247887"/>
            <a:ext cx="8661270" cy="5364786"/>
          </a:xfrm>
        </p:spPr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49298" y="1493134"/>
            <a:ext cx="6055112" cy="47456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ko-KR" altLang="en-US"/>
              <a:t>입력양식</a:t>
            </a:r>
            <a:r>
              <a:rPr lang="en-US" altLang="ko-KR"/>
              <a:t> (form)</a:t>
            </a:r>
            <a:r>
              <a:rPr lang="ko-KR" altLang="en-US"/>
              <a:t> 선택자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8184" y="1269403"/>
            <a:ext cx="8639754" cy="52094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/>
              <a:t>&lt;form onsubmit="return false;"&gt; </a:t>
            </a:r>
          </a:p>
          <a:p>
            <a:pPr marL="0" indent="0">
              <a:buNone/>
            </a:pPr>
            <a:r>
              <a:rPr lang="en-US" altLang="ko-KR" sz="1600"/>
              <a:t>Text : &lt;input type="text"/&gt;&lt;br&gt; </a:t>
            </a:r>
          </a:p>
          <a:p>
            <a:pPr marL="0" indent="0">
              <a:buNone/>
            </a:pPr>
            <a:r>
              <a:rPr lang="en-US" altLang="ko-KR" sz="1600"/>
              <a:t>Password : &lt;input type="password" /&gt;&lt;br&gt;&lt;br&gt; </a:t>
            </a:r>
          </a:p>
          <a:p>
            <a:pPr marL="0" indent="0">
              <a:buNone/>
            </a:pPr>
            <a:r>
              <a:rPr lang="en-US" altLang="ko-KR" sz="1600"/>
              <a:t>Radio : &lt;input type="radio" name="radioGroup" id="radioA" value="A"/&gt; A </a:t>
            </a:r>
          </a:p>
          <a:p>
            <a:pPr marL="0" indent="0">
              <a:buNone/>
            </a:pPr>
            <a:r>
              <a:rPr lang="en-US" altLang="ko-KR" sz="1600"/>
              <a:t>&lt;input type="radio" name="radioGroup" id="radioB" value="B"/&gt; B&lt;br&gt;&lt;br&gt; </a:t>
            </a:r>
          </a:p>
          <a:p>
            <a:pPr marL="0" indent="0">
              <a:buNone/>
            </a:pPr>
            <a:r>
              <a:rPr lang="en-US" altLang="ko-KR" sz="1600"/>
              <a:t>Checkbox : &lt;input type="checkbox" name="checkboxes" id="checkbox1" value="1"/&gt; 1 </a:t>
            </a:r>
          </a:p>
          <a:p>
            <a:pPr marL="0" indent="0">
              <a:buNone/>
            </a:pPr>
            <a:r>
              <a:rPr lang="en-US" altLang="ko-KR" sz="1600"/>
              <a:t>&lt;input type="checkbox" name="checkboxes" id="checkbox2" value="2"/&gt; 2&lt;br&gt;&lt;br&gt; </a:t>
            </a:r>
          </a:p>
          <a:p>
            <a:pPr marL="0" indent="0">
              <a:buNone/>
            </a:pPr>
            <a:r>
              <a:rPr lang="en-US" altLang="ko-KR" sz="1600"/>
              <a:t>Textarea : &lt;br&gt; &lt;textarea rows="15" cols="50" id="myTextarea" id="myTextarea"&gt;&lt;/textarea&gt;&lt;br&gt;&lt;br&gt; </a:t>
            </a:r>
          </a:p>
          <a:p>
            <a:pPr marL="0" indent="0">
              <a:buNone/>
            </a:pPr>
            <a:r>
              <a:rPr lang="en-US" altLang="ko-KR" sz="1600"/>
              <a:t>Image : &lt;input type="image" src="images/image.1.jpg"&gt;&lt;br&gt;&lt;br&gt; </a:t>
            </a:r>
          </a:p>
          <a:p>
            <a:pPr marL="0" indent="0">
              <a:buNone/>
            </a:pPr>
            <a:r>
              <a:rPr lang="en-US" altLang="ko-KR" sz="1600"/>
              <a:t>File : &lt;input type="file"&gt;&lt;br&gt;&lt;br&gt; </a:t>
            </a:r>
          </a:p>
          <a:p>
            <a:pPr marL="0" indent="0">
              <a:buNone/>
            </a:pPr>
            <a:r>
              <a:rPr lang="en-US" altLang="ko-KR" sz="1600"/>
              <a:t>Buttons : &lt;button type="button" id="normalButton"&gt;Normal&lt;/button&gt; </a:t>
            </a:r>
          </a:p>
          <a:p>
            <a:pPr marL="0" indent="0">
              <a:buNone/>
            </a:pPr>
            <a:r>
              <a:rPr lang="en-US" altLang="ko-KR" sz="1600"/>
              <a:t>&lt;button type="submit" id="submitButton"&gt;Submit&lt;/button&gt; </a:t>
            </a:r>
          </a:p>
          <a:p>
            <a:pPr marL="0" indent="0">
              <a:buNone/>
            </a:pPr>
            <a:r>
              <a:rPr lang="en-US" altLang="ko-KR" sz="1600"/>
              <a:t>&lt;button type="reset" id="resetButton"&gt;Reset&lt;/button&gt; &lt;br&gt;&lt;br&gt;</a:t>
            </a:r>
          </a:p>
          <a:p>
            <a:pPr marL="0" indent="0">
              <a:buNone/>
            </a:pPr>
            <a:r>
              <a:rPr lang="en-US" altLang="ko-KR" sz="1600"/>
              <a:t>&lt;input type="button" value="</a:t>
            </a:r>
            <a:r>
              <a:rPr lang="ko-KR" altLang="en-US" sz="1600"/>
              <a:t>일반버튼</a:t>
            </a:r>
            <a:r>
              <a:rPr lang="en-US" altLang="ko-KR" sz="1600"/>
              <a:t>"&gt; </a:t>
            </a:r>
          </a:p>
          <a:p>
            <a:pPr marL="0" indent="0">
              <a:buNone/>
            </a:pPr>
            <a:r>
              <a:rPr lang="en-US" altLang="ko-KR" sz="1600"/>
              <a:t>&lt;input type="submit" value="</a:t>
            </a:r>
            <a:r>
              <a:rPr lang="ko-KR" altLang="en-US" sz="1600"/>
              <a:t>전송버튼</a:t>
            </a:r>
            <a:r>
              <a:rPr lang="en-US" altLang="ko-KR" sz="1600"/>
              <a:t>"&gt; </a:t>
            </a:r>
          </a:p>
          <a:p>
            <a:pPr marL="0" indent="0">
              <a:buNone/>
            </a:pPr>
            <a:r>
              <a:rPr lang="en-US" altLang="ko-KR" sz="1600"/>
              <a:t>&lt;input type="reset" value="</a:t>
            </a:r>
            <a:r>
              <a:rPr lang="ko-KR" altLang="en-US" sz="1600"/>
              <a:t>초기화버튼</a:t>
            </a:r>
            <a:r>
              <a:rPr lang="en-US" altLang="ko-KR" sz="1600"/>
              <a:t>"&gt; &lt;br&gt;&lt;br&gt;</a:t>
            </a:r>
          </a:p>
          <a:p>
            <a:pPr marL="0" indent="0">
              <a:buNone/>
            </a:pPr>
            <a:r>
              <a:rPr lang="en-US" altLang="ko-KR" sz="1600"/>
              <a:t>&lt;/form&gt;</a:t>
            </a:r>
            <a:endParaRPr lang="ko-KR" altLang="en-US" sz="1600"/>
          </a:p>
        </p:txBody>
      </p:sp>
      <p:sp>
        <p:nvSpPr>
          <p:cNvPr id="6" name="제목 4"/>
          <p:cNvSpPr>
            <a:spLocks noGrp="1"/>
          </p:cNvSpPr>
          <p:nvPr>
            <p:ph type="title"/>
          </p:nvPr>
        </p:nvSpPr>
        <p:spPr>
          <a:xfrm>
            <a:off x="355002" y="193638"/>
            <a:ext cx="6207163" cy="473336"/>
          </a:xfrm>
        </p:spPr>
        <p:txBody>
          <a:bodyPr>
            <a:normAutofit fontScale="90000"/>
          </a:bodyPr>
          <a:lstStyle/>
          <a:p>
            <a:pPr lvl="0"/>
            <a:r>
              <a:rPr lang="ko-KR" altLang="en-US"/>
              <a:t>입력양식</a:t>
            </a:r>
            <a:r>
              <a:rPr lang="en-US" altLang="ko-KR"/>
              <a:t> (form)</a:t>
            </a:r>
            <a:r>
              <a:rPr lang="ko-KR" altLang="en-US"/>
              <a:t> 선택자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7426" y="1269402"/>
            <a:ext cx="8650512" cy="5332120"/>
          </a:xfrm>
        </p:spPr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909763" y="1514475"/>
            <a:ext cx="5243512" cy="45148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제목 4"/>
          <p:cNvSpPr>
            <a:spLocks noGrp="1"/>
          </p:cNvSpPr>
          <p:nvPr>
            <p:ph type="title"/>
          </p:nvPr>
        </p:nvSpPr>
        <p:spPr>
          <a:xfrm>
            <a:off x="355002" y="193638"/>
            <a:ext cx="6207163" cy="473336"/>
          </a:xfrm>
        </p:spPr>
        <p:txBody>
          <a:bodyPr>
            <a:normAutofit fontScale="90000"/>
          </a:bodyPr>
          <a:lstStyle/>
          <a:p>
            <a:pPr lvl="0"/>
            <a:r>
              <a:rPr lang="ko-KR" altLang="en-US"/>
              <a:t>입력양식</a:t>
            </a:r>
            <a:r>
              <a:rPr lang="en-US" altLang="ko-KR"/>
              <a:t> (form)</a:t>
            </a:r>
            <a:r>
              <a:rPr lang="ko-KR" altLang="en-US"/>
              <a:t> 선택자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7048" y="208878"/>
            <a:ext cx="7789862" cy="5715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/>
            <a:r>
              <a:rPr lang="ko-KR" altLang="en-US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5153" y="1290918"/>
            <a:ext cx="8682785" cy="5109882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&lt;script&gt;</a:t>
            </a:r>
          </a:p>
          <a:p>
            <a:pPr marL="0" indent="0">
              <a:buNone/>
            </a:pPr>
            <a:r>
              <a:rPr lang="en-US" altLang="ko-KR"/>
              <a:t>$(document).ready(function(){</a:t>
            </a:r>
          </a:p>
          <a:p>
            <a:pPr marL="0" indent="0">
              <a:buNone/>
            </a:pPr>
            <a:r>
              <a:rPr lang="en-US" altLang="ko-KR"/>
              <a:t>	</a:t>
            </a:r>
          </a:p>
          <a:p>
            <a:pPr marL="0" indent="0">
              <a:buNone/>
            </a:pPr>
            <a:r>
              <a:rPr lang="en-US" altLang="ko-KR"/>
              <a:t>});</a:t>
            </a:r>
          </a:p>
          <a:p>
            <a:pPr marL="0" indent="0">
              <a:buNone/>
            </a:pPr>
            <a:r>
              <a:rPr lang="en-US" altLang="ko-KR"/>
              <a:t>&lt;/script&gt;</a:t>
            </a:r>
          </a:p>
          <a:p>
            <a:pPr marL="0" indent="0">
              <a:buNone/>
            </a:pPr>
            <a:endParaRPr lang="en-US" altLang="ko-KR"/>
          </a:p>
          <a:p>
            <a:pPr lvl="0"/>
            <a:r>
              <a:rPr lang="en-US" altLang="ko-KR"/>
              <a:t>//input  </a:t>
            </a:r>
            <a:r>
              <a:rPr lang="ko-KR" altLang="en-US"/>
              <a:t>요소 테두리 </a:t>
            </a:r>
            <a:r>
              <a:rPr lang="en-US" altLang="ko-KR"/>
              <a:t>lime , </a:t>
            </a:r>
            <a:r>
              <a:rPr lang="ko-KR" altLang="en-US"/>
              <a:t>배경색  핑크</a:t>
            </a:r>
          </a:p>
          <a:p>
            <a:pPr lvl="0"/>
            <a:r>
              <a:rPr lang="en-US" altLang="ko-KR"/>
              <a:t>//input</a:t>
            </a:r>
            <a:r>
              <a:rPr lang="ko-KR" altLang="en-US"/>
              <a:t>   </a:t>
            </a:r>
            <a:r>
              <a:rPr lang="en-US" altLang="ko-KR"/>
              <a:t>type</a:t>
            </a:r>
            <a:r>
              <a:rPr lang="ko-KR" altLang="en-US"/>
              <a:t>이 </a:t>
            </a:r>
            <a:r>
              <a:rPr lang="en-US" altLang="ko-KR"/>
              <a:t>button </a:t>
            </a:r>
            <a:r>
              <a:rPr lang="ko-KR" altLang="en-US"/>
              <a:t>인</a:t>
            </a:r>
            <a:r>
              <a:rPr lang="en-US" altLang="ko-KR"/>
              <a:t> </a:t>
            </a:r>
            <a:r>
              <a:rPr lang="ko-KR" altLang="en-US"/>
              <a:t>요소 배경색 노란</a:t>
            </a:r>
          </a:p>
          <a:p>
            <a:pPr lvl="0"/>
            <a:r>
              <a:rPr lang="en-US" altLang="ko-KR"/>
              <a:t>Button  </a:t>
            </a:r>
            <a:r>
              <a:rPr lang="ko-KR" altLang="en-US"/>
              <a:t>요소와</a:t>
            </a:r>
            <a:r>
              <a:rPr lang="en-US" altLang="ko-KR"/>
              <a:t> input</a:t>
            </a:r>
            <a:r>
              <a:rPr lang="ko-KR" altLang="en-US"/>
              <a:t>   </a:t>
            </a:r>
            <a:r>
              <a:rPr lang="en-US" altLang="ko-KR"/>
              <a:t>type</a:t>
            </a:r>
            <a:r>
              <a:rPr lang="ko-KR" altLang="en-US"/>
              <a:t>이 </a:t>
            </a:r>
            <a:r>
              <a:rPr lang="en-US" altLang="ko-KR"/>
              <a:t>button </a:t>
            </a:r>
            <a:r>
              <a:rPr lang="ko-KR" altLang="en-US"/>
              <a:t>인</a:t>
            </a:r>
            <a:r>
              <a:rPr lang="en-US" altLang="ko-KR"/>
              <a:t> </a:t>
            </a:r>
            <a:r>
              <a:rPr lang="ko-KR" altLang="en-US"/>
              <a:t>요소 배경색 하늘색</a:t>
            </a:r>
          </a:p>
          <a:p>
            <a:pPr lvl="0"/>
            <a:r>
              <a:rPr lang="en-US" altLang="ko-KR"/>
              <a:t>Type</a:t>
            </a:r>
            <a:r>
              <a:rPr lang="ko-KR" altLang="en-US"/>
              <a:t>이 </a:t>
            </a:r>
            <a:r>
              <a:rPr lang="en-US" altLang="ko-KR"/>
              <a:t>submit </a:t>
            </a:r>
            <a:r>
              <a:rPr lang="ko-KR" altLang="en-US"/>
              <a:t>요소의 배경색 녹색</a:t>
            </a:r>
          </a:p>
          <a:p>
            <a:pPr lvl="0"/>
            <a:r>
              <a:rPr lang="en-US" altLang="ko-KR"/>
              <a:t>Type</a:t>
            </a:r>
            <a:r>
              <a:rPr lang="ko-KR" altLang="en-US"/>
              <a:t>이 </a:t>
            </a:r>
            <a:r>
              <a:rPr lang="en-US" altLang="ko-KR"/>
              <a:t>reset</a:t>
            </a:r>
            <a:r>
              <a:rPr lang="ko-KR" altLang="en-US"/>
              <a:t>인 요소의 배경색 노랑</a:t>
            </a:r>
            <a:r>
              <a:rPr lang="en-US" altLang="ko-KR"/>
              <a:t> </a:t>
            </a:r>
          </a:p>
          <a:p>
            <a:pPr lvl="0"/>
            <a:r>
              <a:rPr lang="en-US" altLang="ko-KR"/>
              <a:t>Type</a:t>
            </a:r>
            <a:r>
              <a:rPr lang="ko-KR" altLang="en-US"/>
              <a:t>이 </a:t>
            </a:r>
            <a:r>
              <a:rPr lang="en-US" altLang="ko-KR"/>
              <a:t>text, password </a:t>
            </a:r>
            <a:r>
              <a:rPr lang="ko-KR" altLang="en-US"/>
              <a:t>인</a:t>
            </a:r>
            <a:r>
              <a:rPr lang="en-US" altLang="ko-KR"/>
              <a:t> </a:t>
            </a:r>
            <a:r>
              <a:rPr lang="ko-KR" altLang="en-US"/>
              <a:t>요소의 테두리 파랑</a:t>
            </a:r>
          </a:p>
          <a:p>
            <a:pPr lvl="0"/>
            <a:r>
              <a:rPr lang="en-US" altLang="ko-KR"/>
              <a:t>Type</a:t>
            </a:r>
            <a:r>
              <a:rPr lang="ko-KR" altLang="en-US"/>
              <a:t>이 </a:t>
            </a:r>
            <a:r>
              <a:rPr lang="en-US" altLang="ko-KR"/>
              <a:t>file, image</a:t>
            </a:r>
            <a:r>
              <a:rPr lang="ko-KR" altLang="en-US"/>
              <a:t>인요소의 테두리 빨강</a:t>
            </a:r>
          </a:p>
          <a:p>
            <a:pPr lvl="0"/>
            <a:endParaRPr lang="ko-KR" alt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Crayons">
  <a:themeElements>
    <a:clrScheme name="1_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1_Crayons">
      <a:majorFont>
        <a:latin typeface="Comic Sans MS"/>
        <a:ea typeface="굴림"/>
        <a:cs typeface=""/>
      </a:majorFont>
      <a:minorFont>
        <a:latin typeface="Comic Sans MS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Arial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891</Words>
  <Application>Hancom Office Hanshow 2010</Application>
  <PresentationFormat>화면 슬라이드 쇼(4:3)</PresentationFormat>
  <Paragraphs>166</Paragraphs>
  <Slides>13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1_Crayons</vt:lpstr>
      <vt:lpstr>슬라이드 1</vt:lpstr>
      <vt:lpstr>1.선택자 엘리먼트 관련</vt:lpstr>
      <vt:lpstr>예제 선택자 – 후손, 자식</vt:lpstr>
      <vt:lpstr>예제 선택자 – 후손, 자식</vt:lpstr>
      <vt:lpstr>선택자 – 후손, 자식</vt:lpstr>
      <vt:lpstr>예제 선택자 - 형제</vt:lpstr>
      <vt:lpstr>2 선택자 - 속성관련</vt:lpstr>
      <vt:lpstr>속성선택자1</vt:lpstr>
      <vt:lpstr>3. 입력양식(form)선택자 </vt:lpstr>
      <vt:lpstr>입력양식 (form) 선택자</vt:lpstr>
      <vt:lpstr>입력양식 (form) 선택자</vt:lpstr>
      <vt:lpstr>입력양식 (form) 선택자</vt:lpstr>
      <vt:lpstr>예제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subject/>
  <dc:creator>천인국</dc:creator>
  <cp:keywords/>
  <dc:description/>
  <cp:lastModifiedBy>821033476947</cp:lastModifiedBy>
  <cp:revision>2079</cp:revision>
  <dcterms:created xsi:type="dcterms:W3CDTF">2007-06-29T06:43:39Z</dcterms:created>
  <dcterms:modified xsi:type="dcterms:W3CDTF">2020-12-14T00:23:43Z</dcterms:modified>
  <cp:category/>
  <cp:contentStatus/>
</cp:coreProperties>
</file>